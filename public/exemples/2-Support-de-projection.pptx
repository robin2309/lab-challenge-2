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1447"/>
                </a:solidFill>
                <a:latin typeface="Georgia"/>
              </a:rPr>
              <a:t>Molière et le théâtre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D5F48"/>
                </a:solidFill>
              </a:rPr>
              <a:t>Français 3e B · Support de projection (exemple)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1447"/>
                </a:solidFill>
                <a:latin typeface="Georgia"/>
              </a:rPr>
              <a:t>Séance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D5F48"/>
                </a:solidFill>
              </a:rPr>
              <a:t>Entrer dans l’univers de Molière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Mot du jour : « fourberie »</a:t>
            </a:r>
          </a:p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Courte vidéo (intégrée ci-après)</a:t>
            </a:r>
          </a:p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Lecture de texte — fiche élève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1447"/>
                </a:solidFill>
                <a:latin typeface="Georgia"/>
              </a:rPr>
              <a:t>Courte vidéo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D5F48"/>
                </a:solidFill>
              </a:rPr>
              <a:t>Les Fourberies de Scapin — lecture automatique à la diapositive</a:t>
            </a:r>
          </a:p>
        </p:txBody>
      </p:sp>
      <p:pic>
        <p:nvPicPr>
          <p:cNvPr id="4" name="vide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6080" y="2103120"/>
            <a:ext cx="630936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1447"/>
                </a:solidFill>
                <a:latin typeface="Georgia"/>
              </a:rPr>
              <a:t>Lecture de 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D5F48"/>
                </a:solidFill>
              </a:rPr>
              <a:t>Les Fourberies de Scapin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Qui parle, et à qui ?</a:t>
            </a:r>
          </a:p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Quel est le sujet de l’extrait ?</a:t>
            </a:r>
          </a:p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Deux mots qui montrent l’émotion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1447"/>
                </a:solidFill>
                <a:latin typeface="Georgia"/>
              </a:rPr>
              <a:t>Séance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D5F48"/>
                </a:solidFill>
              </a:rPr>
              <a:t>La langue du théâtre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Rappel de la séance précédente</a:t>
            </a:r>
          </a:p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Répliques, didascalies, registre comique</a:t>
            </a:r>
          </a:p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Jeu de société par équipes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1447"/>
                </a:solidFill>
                <a:latin typeface="Georgia"/>
              </a:rPr>
              <a:t>Captation de mise en scène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D5F48"/>
                </a:solidFill>
              </a:rPr>
              <a:t>Séance 3 — extrait intégré</a:t>
            </a:r>
          </a:p>
        </p:txBody>
      </p:sp>
      <p:pic>
        <p:nvPicPr>
          <p:cNvPr id="4" name="vide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6080" y="2103120"/>
            <a:ext cx="630936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01447"/>
                </a:solidFill>
                <a:latin typeface="Georgia"/>
              </a:rPr>
              <a:t>Bilan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D5F48"/>
                </a:solidFill>
              </a:rPr>
              <a:t>Séance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Ce que j’ai appris sur Molière</a:t>
            </a:r>
          </a:p>
          <a:p>
            <a:pPr>
              <a:spcAft>
                <a:spcPts val="1200"/>
              </a:spcAft>
              <a:defRPr sz="2600">
                <a:solidFill>
                  <a:srgbClr val="201447"/>
                </a:solidFill>
              </a:defRPr>
            </a:pPr>
            <a:r>
              <a:t>• Mon passage préféré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